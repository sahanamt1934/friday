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7"/>
  </p:notesMasterIdLst>
  <p:handoutMasterIdLst>
    <p:handoutMasterId r:id="rId18"/>
  </p:handoutMasterIdLst>
  <p:sldIdLst>
    <p:sldId id="501" r:id="rId2"/>
    <p:sldId id="287" r:id="rId3"/>
    <p:sldId id="369" r:id="rId4"/>
    <p:sldId id="500" r:id="rId5"/>
    <p:sldId id="468" r:id="rId6"/>
    <p:sldId id="504" r:id="rId7"/>
    <p:sldId id="476" r:id="rId8"/>
    <p:sldId id="386" r:id="rId9"/>
    <p:sldId id="510" r:id="rId10"/>
    <p:sldId id="507" r:id="rId11"/>
    <p:sldId id="509" r:id="rId12"/>
    <p:sldId id="511" r:id="rId13"/>
    <p:sldId id="293" r:id="rId14"/>
    <p:sldId id="506" r:id="rId15"/>
    <p:sldId id="508" r:id="rId16"/>
  </p:sldIdLst>
  <p:sldSz cx="9144000" cy="6858000" type="screen4x3"/>
  <p:notesSz cx="6735763" cy="9869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E72"/>
    <a:srgbClr val="CCCC00"/>
    <a:srgbClr val="B1C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C90EC-C8D8-4E0B-A198-F938F3706EB1}" v="5" dt="2025-10-24T17:34:46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14" autoAdjust="0"/>
    <p:restoredTop sz="95499" autoAdjust="0"/>
  </p:normalViewPr>
  <p:slideViewPr>
    <p:cSldViewPr>
      <p:cViewPr varScale="1">
        <p:scale>
          <a:sx n="92" d="100"/>
          <a:sy n="92" d="100"/>
        </p:scale>
        <p:origin x="56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5" d="100"/>
          <a:sy n="35" d="100"/>
        </p:scale>
        <p:origin x="-2462" y="-91"/>
      </p:cViewPr>
      <p:guideLst>
        <p:guide orient="horz" pos="3108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ya Nidhi" userId="2430f7a6461be2f5" providerId="LiveId" clId="{B1A13F92-1AA3-4255-8E1B-AA5EB1D77F88}"/>
    <pc:docChg chg="modSld">
      <pc:chgData name="Vidya Nidhi" userId="2430f7a6461be2f5" providerId="LiveId" clId="{B1A13F92-1AA3-4255-8E1B-AA5EB1D77F88}" dt="2025-10-24T17:37:40.492" v="89" actId="20577"/>
      <pc:docMkLst>
        <pc:docMk/>
      </pc:docMkLst>
      <pc:sldChg chg="modSp mod">
        <pc:chgData name="Vidya Nidhi" userId="2430f7a6461be2f5" providerId="LiveId" clId="{B1A13F92-1AA3-4255-8E1B-AA5EB1D77F88}" dt="2025-10-24T17:37:40.492" v="89" actId="20577"/>
        <pc:sldMkLst>
          <pc:docMk/>
          <pc:sldMk cId="0" sldId="287"/>
        </pc:sldMkLst>
        <pc:spChg chg="mod">
          <ac:chgData name="Vidya Nidhi" userId="2430f7a6461be2f5" providerId="LiveId" clId="{B1A13F92-1AA3-4255-8E1B-AA5EB1D77F88}" dt="2025-10-24T17:37:40.492" v="89" actId="20577"/>
          <ac:spMkLst>
            <pc:docMk/>
            <pc:sldMk cId="0" sldId="287"/>
            <ac:spMk id="3" creationId="{00000000-0000-0000-0000-000000000000}"/>
          </ac:spMkLst>
        </pc:spChg>
      </pc:sldChg>
      <pc:sldChg chg="addSp delSp modSp mod">
        <pc:chgData name="Vidya Nidhi" userId="2430f7a6461be2f5" providerId="LiveId" clId="{B1A13F92-1AA3-4255-8E1B-AA5EB1D77F88}" dt="2025-10-24T17:35:53.442" v="78" actId="1076"/>
        <pc:sldMkLst>
          <pc:docMk/>
          <pc:sldMk cId="0" sldId="293"/>
        </pc:sldMkLst>
        <pc:spChg chg="mod">
          <ac:chgData name="Vidya Nidhi" userId="2430f7a6461be2f5" providerId="LiveId" clId="{B1A13F92-1AA3-4255-8E1B-AA5EB1D77F88}" dt="2025-10-24T17:19:51.732" v="34" actId="1076"/>
          <ac:spMkLst>
            <pc:docMk/>
            <pc:sldMk cId="0" sldId="293"/>
            <ac:spMk id="2" creationId="{00000000-0000-0000-0000-000000000000}"/>
          </ac:spMkLst>
        </pc:spChg>
        <pc:spChg chg="mod">
          <ac:chgData name="Vidya Nidhi" userId="2430f7a6461be2f5" providerId="LiveId" clId="{B1A13F92-1AA3-4255-8E1B-AA5EB1D77F88}" dt="2025-10-24T17:20:05.797" v="37" actId="5793"/>
          <ac:spMkLst>
            <pc:docMk/>
            <pc:sldMk cId="0" sldId="293"/>
            <ac:spMk id="3" creationId="{00000000-0000-0000-0000-000000000000}"/>
          </ac:spMkLst>
        </pc:spChg>
        <pc:spChg chg="del mod">
          <ac:chgData name="Vidya Nidhi" userId="2430f7a6461be2f5" providerId="LiveId" clId="{B1A13F92-1AA3-4255-8E1B-AA5EB1D77F88}" dt="2025-10-24T17:20:08.237" v="39"/>
          <ac:spMkLst>
            <pc:docMk/>
            <pc:sldMk cId="0" sldId="293"/>
            <ac:spMk id="10" creationId="{85B5167C-14C4-00F3-9983-B5B51C2CEF1F}"/>
          </ac:spMkLst>
        </pc:spChg>
        <pc:picChg chg="add mod">
          <ac:chgData name="Vidya Nidhi" userId="2430f7a6461be2f5" providerId="LiveId" clId="{B1A13F92-1AA3-4255-8E1B-AA5EB1D77F88}" dt="2025-10-24T17:33:32.168" v="44" actId="1076"/>
          <ac:picMkLst>
            <pc:docMk/>
            <pc:sldMk cId="0" sldId="293"/>
            <ac:picMk id="5" creationId="{C67DF4A0-06DC-DDED-C9AA-5995EBE09893}"/>
          </ac:picMkLst>
        </pc:picChg>
        <pc:picChg chg="add mod">
          <ac:chgData name="Vidya Nidhi" userId="2430f7a6461be2f5" providerId="LiveId" clId="{B1A13F92-1AA3-4255-8E1B-AA5EB1D77F88}" dt="2025-10-24T17:34:00.091" v="51" actId="1076"/>
          <ac:picMkLst>
            <pc:docMk/>
            <pc:sldMk cId="0" sldId="293"/>
            <ac:picMk id="7" creationId="{B7AED4A7-D941-BEBF-0CC8-218538896875}"/>
          </ac:picMkLst>
        </pc:picChg>
        <pc:picChg chg="add mod">
          <ac:chgData name="Vidya Nidhi" userId="2430f7a6461be2f5" providerId="LiveId" clId="{B1A13F92-1AA3-4255-8E1B-AA5EB1D77F88}" dt="2025-10-24T17:35:09.141" v="72" actId="1076"/>
          <ac:picMkLst>
            <pc:docMk/>
            <pc:sldMk cId="0" sldId="293"/>
            <ac:picMk id="10" creationId="{DF1CFA81-6C7E-2B28-86E7-932B8359FC7C}"/>
          </ac:picMkLst>
        </pc:picChg>
        <pc:picChg chg="add mod">
          <ac:chgData name="Vidya Nidhi" userId="2430f7a6461be2f5" providerId="LiveId" clId="{B1A13F92-1AA3-4255-8E1B-AA5EB1D77F88}" dt="2025-10-24T17:35:53.442" v="78" actId="1076"/>
          <ac:picMkLst>
            <pc:docMk/>
            <pc:sldMk cId="0" sldId="293"/>
            <ac:picMk id="14" creationId="{92296850-C5E6-A6F6-A6C2-E6F421887BCB}"/>
          </ac:picMkLst>
        </pc:picChg>
      </pc:sldChg>
      <pc:sldChg chg="addSp delSp modSp mod">
        <pc:chgData name="Vidya Nidhi" userId="2430f7a6461be2f5" providerId="LiveId" clId="{B1A13F92-1AA3-4255-8E1B-AA5EB1D77F88}" dt="2025-10-24T15:13:36.074" v="4" actId="14100"/>
        <pc:sldMkLst>
          <pc:docMk/>
          <pc:sldMk cId="0" sldId="386"/>
        </pc:sldMkLst>
        <pc:spChg chg="del">
          <ac:chgData name="Vidya Nidhi" userId="2430f7a6461be2f5" providerId="LiveId" clId="{B1A13F92-1AA3-4255-8E1B-AA5EB1D77F88}" dt="2025-10-24T15:13:21.753" v="0" actId="931"/>
          <ac:spMkLst>
            <pc:docMk/>
            <pc:sldMk cId="0" sldId="386"/>
            <ac:spMk id="4" creationId="{5DCF38B9-E1CF-4E41-F4B2-56E178599FE3}"/>
          </ac:spMkLst>
        </pc:spChg>
        <pc:picChg chg="add mod">
          <ac:chgData name="Vidya Nidhi" userId="2430f7a6461be2f5" providerId="LiveId" clId="{B1A13F92-1AA3-4255-8E1B-AA5EB1D77F88}" dt="2025-10-24T15:13:36.074" v="4" actId="14100"/>
          <ac:picMkLst>
            <pc:docMk/>
            <pc:sldMk cId="0" sldId="386"/>
            <ac:picMk id="5" creationId="{BF39B1BA-BB56-CBC7-2FCA-2052D69447A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1ACE5-0652-499A-82AC-ADDC7C376A62}" type="datetimeFigureOut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DB786-2F8F-487E-9F7A-390B65DB88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41489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09560-67D1-44A4-8C57-2765DEE809FB}" type="datetimeFigureOut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8007"/>
            <a:ext cx="5388610" cy="4441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F951E-0BAA-4E36-AA90-03BAA79777A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0420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F951E-0BAA-4E36-AA90-03BAA79777A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7828-6BB5-4C44-A77D-FF73626E93A4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7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F113-E29C-4762-B43B-1697F948C2DF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1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26D2-B3F6-456B-841D-5CC09EB569B7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6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AB88-BC9D-498B-B24F-BA5CB70F0AB9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5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38A0-B606-429A-9704-002F0F3F66F7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0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BE8F-535A-4223-B50F-933E06838EB3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2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A08-4B8E-4F96-AC30-064FF3AF3B57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94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BA4F-E70D-44BA-8052-F316309A3906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16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BEDDE-4244-46FF-BAB7-ED9FEF0A0858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7EEF-E0E6-43BA-8E4F-BBEE05DE3D7C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1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D393-459D-4785-8666-B242BA0F7EF7}" type="datetime1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CSE, SIT, Tumkur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32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90F4B-4688-4BC7-9E91-3A3A94052E6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>
                <a:solidFill>
                  <a:prstClr val="black">
                    <a:tint val="75000"/>
                  </a:prstClr>
                </a:solidFill>
              </a:rPr>
              <a:t>Dept. of CSE, SIT, Tumkur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A8894-9BB9-4840-9552-2631AF7E8A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1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2304253"/>
          </a:xfrm>
        </p:spPr>
        <p:txBody>
          <a:bodyPr>
            <a:normAutofit fontScale="90000"/>
          </a:bodyPr>
          <a:lstStyle/>
          <a:p>
            <a:br>
              <a:rPr lang="en-US" sz="2700" dirty="0">
                <a:latin typeface="Book Antiqua" pitchFamily="18" charset="0"/>
              </a:rPr>
            </a:br>
            <a:br>
              <a:rPr lang="en-US" sz="2700" dirty="0">
                <a:latin typeface="Book Antiqua" pitchFamily="18" charset="0"/>
              </a:rPr>
            </a:br>
            <a:br>
              <a:rPr lang="en-US" sz="2700" dirty="0">
                <a:latin typeface="Book Antiqua" pitchFamily="18" charset="0"/>
              </a:rPr>
            </a:br>
            <a:r>
              <a:rPr lang="en-US" sz="2700" dirty="0">
                <a:latin typeface="Book Antiqua" pitchFamily="18" charset="0"/>
              </a:rPr>
              <a:t>Mini Project Second Review Presentation </a:t>
            </a:r>
            <a:br>
              <a:rPr lang="en-US" sz="2700" dirty="0">
                <a:latin typeface="Book Antiqua" pitchFamily="18" charset="0"/>
              </a:rPr>
            </a:br>
            <a:r>
              <a:rPr lang="en-US" sz="2700" dirty="0">
                <a:latin typeface="Book Antiqua" pitchFamily="18" charset="0"/>
              </a:rPr>
              <a:t>on</a:t>
            </a:r>
            <a:br>
              <a:rPr lang="en-US" sz="2200" b="1" dirty="0">
                <a:latin typeface="Book Antiqua" pitchFamily="18" charset="0"/>
              </a:rPr>
            </a:b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Ambulance Task Offloading In Vehicular Edge Computing Networks Using Genetic Algorithm.</a:t>
            </a:r>
            <a:br>
              <a:rPr lang="en-US" sz="2700" dirty="0">
                <a:latin typeface="Times New Roman" pitchFamily="18" charset="0"/>
                <a:cs typeface="Times New Roman" pitchFamily="18" charset="0"/>
              </a:rPr>
            </a:br>
            <a:br>
              <a:rPr lang="en-US" sz="3100" b="1" dirty="0">
                <a:latin typeface="Book Antiqua" pitchFamily="18" charset="0"/>
              </a:rPr>
            </a:br>
            <a:endParaRPr lang="en-US" sz="3100" b="1" dirty="0">
              <a:latin typeface="Book Antiqu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8064" y="5050770"/>
            <a:ext cx="3744416" cy="15240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By</a:t>
            </a:r>
          </a:p>
          <a:p>
            <a:pPr algn="l"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Book Antiqua" pitchFamily="18" charset="0"/>
              </a:rPr>
              <a:t>Sahana M T: 1SI23IS085</a:t>
            </a:r>
          </a:p>
          <a:p>
            <a:pPr algn="l"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Book Antiqua" pitchFamily="18" charset="0"/>
              </a:rPr>
              <a:t>Varshitha S: 1SI23IS118</a:t>
            </a:r>
            <a:endParaRPr lang="en-US" sz="1800" dirty="0">
              <a:solidFill>
                <a:schemeClr val="tx1"/>
              </a:solidFill>
              <a:latin typeface="Bookman Old Style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sz="1800" dirty="0" err="1">
                <a:solidFill>
                  <a:schemeClr val="tx1"/>
                </a:solidFill>
                <a:latin typeface="Book Antiqua" pitchFamily="18" charset="0"/>
              </a:rPr>
              <a:t>Vattaluru</a:t>
            </a:r>
            <a:r>
              <a:rPr lang="en-US" sz="1800" dirty="0">
                <a:solidFill>
                  <a:schemeClr val="tx1"/>
                </a:solidFill>
                <a:latin typeface="Book Antiqua" pitchFamily="18" charset="0"/>
              </a:rPr>
              <a:t> Rishitha: 1SI23IS119</a:t>
            </a:r>
          </a:p>
          <a:p>
            <a:pPr algn="l"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latin typeface="Book Antiqua" pitchFamily="18" charset="0"/>
              </a:rPr>
              <a:t>Vidya: 1SI23IS120</a:t>
            </a:r>
            <a:endParaRPr lang="en-US" sz="1800" dirty="0">
              <a:solidFill>
                <a:schemeClr val="tx1"/>
              </a:solidFill>
              <a:latin typeface="Bookman Old Style" pitchFamily="18" charset="0"/>
            </a:endParaRPr>
          </a:p>
          <a:p>
            <a:pPr algn="l">
              <a:spcBef>
                <a:spcPts val="0"/>
              </a:spcBef>
            </a:pPr>
            <a:endParaRPr lang="en-US" sz="2000" b="1" dirty="0">
              <a:solidFill>
                <a:schemeClr val="tx1"/>
              </a:solidFill>
              <a:latin typeface="Bookman Old Style" pitchFamily="18" charset="0"/>
            </a:endParaRPr>
          </a:p>
          <a:p>
            <a:pPr algn="l">
              <a:spcBef>
                <a:spcPts val="0"/>
              </a:spcBef>
            </a:pPr>
            <a:endParaRPr lang="en-US" sz="2000" b="1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33400" y="3433355"/>
            <a:ext cx="3744416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Under the guidance of</a:t>
            </a:r>
          </a:p>
          <a:p>
            <a:r>
              <a:rPr lang="en-US" dirty="0" err="1">
                <a:latin typeface="Bookman Old Style" pitchFamily="18" charset="0"/>
              </a:rPr>
              <a:t>Dr.Keerthan</a:t>
            </a:r>
            <a:r>
              <a:rPr lang="en-US" dirty="0">
                <a:latin typeface="Bookman Old Style" pitchFamily="18" charset="0"/>
              </a:rPr>
              <a:t> Kumar T G</a:t>
            </a:r>
          </a:p>
          <a:p>
            <a:r>
              <a:rPr lang="en-US" dirty="0">
                <a:latin typeface="Bookman Old Style" pitchFamily="18" charset="0"/>
              </a:rPr>
              <a:t>Assistant Professor</a:t>
            </a:r>
          </a:p>
          <a:p>
            <a:r>
              <a:rPr lang="en-US" dirty="0">
                <a:latin typeface="Bookman Old Style" pitchFamily="18" charset="0"/>
              </a:rPr>
              <a:t>Dept. of ISE, SIT, Tumakuru</a:t>
            </a:r>
          </a:p>
          <a:p>
            <a:endParaRPr lang="en-US" sz="2000" dirty="0">
              <a:latin typeface="Bookman Old Style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33400" y="4800600"/>
            <a:ext cx="81534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9144000" cy="1600433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="1" noProof="0" dirty="0">
                <a:latin typeface="Book Antiqua" pitchFamily="18" charset="0"/>
              </a:rPr>
              <a:t>                    </a:t>
            </a:r>
            <a:r>
              <a:rPr lang="sv-SE" sz="2400" b="1" dirty="0">
                <a:latin typeface="Book Antiqua" pitchFamily="18" charset="0"/>
              </a:rPr>
              <a:t>SI</a:t>
            </a:r>
            <a:r>
              <a:rPr kumimoji="0" lang="sv-SE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DDAGANGA INSTITUTE OF TECHNOLOGY, </a:t>
            </a:r>
            <a:r>
              <a:rPr kumimoji="0" lang="sv-SE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 TUMKUR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400" b="1" baseline="0" dirty="0">
                <a:latin typeface="Book Antiqua" pitchFamily="18" charset="0"/>
              </a:rPr>
              <a:t>                 Department of Information Science and Engineering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ook Antiqua" pitchFamily="18" charset="0"/>
            </a:endParaRPr>
          </a:p>
        </p:txBody>
      </p:sp>
      <p:pic>
        <p:nvPicPr>
          <p:cNvPr id="9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56776"/>
            <a:ext cx="1344968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33249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spcBef>
                <a:spcPts val="0"/>
              </a:spcBef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lvl="1"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Algorithm and Methodology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Outcomes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b="1" dirty="0"/>
              <a:t>Outline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3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Problem Statement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33400" y="1219200"/>
            <a:ext cx="8305800" cy="541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533400" indent="-533400" algn="just">
              <a:lnSpc>
                <a:spcPct val="150000"/>
              </a:lnSpc>
              <a:spcBef>
                <a:spcPct val="0"/>
              </a:spcBef>
              <a:defRPr/>
            </a:pP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defRPr/>
            </a:pPr>
            <a:endParaRPr lang="en-US" sz="2000" b="1" dirty="0"/>
          </a:p>
          <a:p>
            <a:pPr algn="just">
              <a:spcBef>
                <a:spcPct val="0"/>
              </a:spcBef>
              <a:defRPr/>
            </a:pPr>
            <a:endParaRPr lang="en-US" sz="2000" b="1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1" dirty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1" dirty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43911" y="600189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PROBLEM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2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7C5F5-E9DE-8157-8271-B8D0B2BCC99B}"/>
              </a:ext>
            </a:extLst>
          </p:cNvPr>
          <p:cNvSpPr txBox="1"/>
          <p:nvPr/>
        </p:nvSpPr>
        <p:spPr>
          <a:xfrm>
            <a:off x="339941" y="1690882"/>
            <a:ext cx="8464118" cy="327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Ambulances need to process data quickly for routing, hospital selection, and patient care, but relying only on onboard systems causes delays and high energy use.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Vehicular Edge Computing (VEC)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help by offloading tasks to nearby servers, yet current methods struggle to adapt to changing traffic and network conditions. To overcome this,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to make faster, smarter offloading decisions, reducing delays and improving emergency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sv-SE" b="1" dirty="0">
                <a:solidFill>
                  <a:prstClr val="black"/>
                </a:solidFill>
                <a:latin typeface="Book Antiqua" pitchFamily="18" charset="0"/>
              </a:rPr>
              <a:t>Introduction</a:t>
            </a:r>
            <a:endParaRPr lang="en-US" b="1" dirty="0">
              <a:solidFill>
                <a:prstClr val="black"/>
              </a:solidFill>
              <a:latin typeface="Book Antiqu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57158" y="1000108"/>
            <a:ext cx="8305800" cy="541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71472" y="357166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IN" sz="1200" dirty="0">
                <a:solidFill>
                  <a:prstClr val="black"/>
                </a:solidFill>
              </a:rPr>
              <a:t>Dept. of ISE, SIT, Tumkur</a:t>
            </a:r>
            <a:endParaRPr lang="en-US" sz="1200" dirty="0">
              <a:solidFill>
                <a:prstClr val="black"/>
              </a:solidFill>
            </a:endParaRPr>
          </a:p>
        </p:txBody>
      </p:sp>
      <p:pic>
        <p:nvPicPr>
          <p:cNvPr id="11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2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DFFA8894-9BB9-4840-9552-2631AF7E8A18}" type="slidenum">
              <a:rPr lang="en-US" sz="1200" smtClean="0">
                <a:solidFill>
                  <a:prstClr val="black"/>
                </a:solidFill>
              </a:rPr>
              <a:pPr algn="r">
                <a:defRPr/>
              </a:pPr>
              <a:t>4</a:t>
            </a:fld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321C17-4616-9B32-5FB2-51CF72057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014312"/>
            <a:ext cx="7560840" cy="461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Ambulances generate a lot of real-time data that needs to be processed quickly for life-saving decisions.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Relying only on onboard systems can cause delays and high energy use during emergencies.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Vehicular Edge Computing (VEC)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by sending (offloading) these tasks to nearby roadside servers for faster processing.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best edge server or hospital in real time is difficult because traffic and network conditions keep changing.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this process smarter — it selects the most efficient option, reducing delay and improving emergency response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676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20688"/>
            <a:ext cx="8229600" cy="10081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OBJECTIVES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Objectives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3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90DC00-86D7-C37D-5667-E52ECD3C49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9592" y="1837837"/>
            <a:ext cx="7344816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ambulances to process critical data faster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Vehicular Edge Computing (VEC)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smartly decide where to offload tasks, reducing delays in routing and hospital assignment.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emergency response by making faster, more reliable decisions while efficiently managing network and computing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01919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Literature Survey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1143000"/>
            <a:ext cx="8579296" cy="480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endParaRPr lang="en-US" sz="800" b="1" dirty="0"/>
          </a:p>
          <a:p>
            <a:pPr algn="just"/>
            <a:endParaRPr lang="en-US" sz="800" b="1" dirty="0"/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2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1282" y="167707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F726C-FF74-C299-94C4-029021F93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692696"/>
            <a:ext cx="8928992" cy="5688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82" y="247690"/>
            <a:ext cx="8305800" cy="868362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3"/>
                </a:solidFill>
              </a:rPr>
              <a:t>OUTCOME OF THE LITERATURE SURVEY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20818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sv-SE" b="1" dirty="0">
                <a:solidFill>
                  <a:prstClr val="black"/>
                </a:solidFill>
                <a:latin typeface="Book Antiqua" pitchFamily="18" charset="0"/>
              </a:rPr>
              <a:t>Literature Survey</a:t>
            </a:r>
            <a:endParaRPr lang="en-US" b="1" dirty="0">
              <a:solidFill>
                <a:prstClr val="black"/>
              </a:solidFill>
              <a:latin typeface="Book Antiqua" pitchFamily="18" charset="0"/>
            </a:endParaRPr>
          </a:p>
        </p:txBody>
      </p:sp>
      <p:sp>
        <p:nvSpPr>
          <p:cNvPr id="8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46C7ED8-7D33-C432-F64A-EAE66F4F072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971600" y="1513567"/>
            <a:ext cx="7056784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and routing: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IoT and AI allow us to track ambulances, monitor patients, and find the best routes instantly.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uncertainty: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Advanced techniques help manage unpredictable traffic and quickly relocate emergency vehicles.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Edge computing makes the systems more efficient and scalable by reducing delays.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goals: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still need to improve communication reliability, data security, and address ethical concerns to ensure these systems are safe and effective.</a:t>
            </a:r>
          </a:p>
        </p:txBody>
      </p:sp>
    </p:spTree>
    <p:extLst>
      <p:ext uri="{BB962C8B-B14F-4D97-AF65-F5344CB8AC3E}">
        <p14:creationId xmlns:p14="http://schemas.microsoft.com/office/powerpoint/2010/main" val="309345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ARCHITECTURE OF PROPOSED MODEL/ BLOCK DIAGRAM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="1" dirty="0">
                <a:latin typeface="Book Antiqua" pitchFamily="18" charset="0"/>
              </a:rPr>
              <a:t>Proposed Work : Architecture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2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4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39B1BA-BB56-CBC7-2FCA-2052D6944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628800"/>
            <a:ext cx="8784976" cy="432048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8646-140A-1675-8B4C-41037A93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5561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3"/>
                </a:solidFill>
              </a:rPr>
              <a:t>Algorithms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E3CC4-6C9E-0810-622F-DE0EDD015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717460"/>
            <a:ext cx="7560840" cy="39172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bio-inspired optimization algorithm that uses the principles of natural selection, crossover, and mutation to find the best solution among many possibilities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 Steps: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1.Initialization: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hospital is considered a possible solution for an ambulance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Fitness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fitness of each hospital is calculated using distance, beds, and specialization match.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hospital(s) with the highest fitness values are selected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Crossover / Mutation (Simplified):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+ re-selection.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Final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with the highest fitness score is chosen as the destination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6A3ED-0070-4A56-50DD-8E9F27B6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5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8D8B-4A66-D98A-337E-9F39DE55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54562"/>
          </a:xfrm>
        </p:spPr>
        <p:txBody>
          <a:bodyPr>
            <a:normAutofit/>
          </a:bodyPr>
          <a:lstStyle/>
          <a:p>
            <a:pPr marL="0" indent="0" algn="l"/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4BF49-342A-30B3-7340-909B2813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06C8B-3885-B2F9-1D94-8710A5764E4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3849" y="281854"/>
            <a:ext cx="8496300" cy="266826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EC7A6-E675-3260-2A83-B19E0451A1BE}"/>
              </a:ext>
            </a:extLst>
          </p:cNvPr>
          <p:cNvSpPr txBox="1"/>
          <p:nvPr/>
        </p:nvSpPr>
        <p:spPr>
          <a:xfrm>
            <a:off x="539552" y="33364"/>
            <a:ext cx="7488832" cy="6644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Formulae used: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=[(x1​−x2​)^2+(y1​−y2​)^2]^1/2</a:t>
            </a:r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Used to calculate the straight-line distance between the ambulance and a           hospital or RSU.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sv-S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 (min)=Distance (m)/1000​×60/50</a:t>
            </a:r>
            <a:r>
              <a:rPr lang="sv-S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sv-S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distance to travel time (minutes), assuming a speed of 50 km/h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 Score=max(0,1−ETA/Max ETA​)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ETA to a score between 0 and 1 (higher = better/closer)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 Score=min(1,Available Beds/5​)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hospital capacity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 Score={1,if specialist is available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0,if not​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Checks if the hospital has the required doctor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Fitness=0.6×ETA Score+0.3×Bed Score+0.1×Spec Score</a:t>
            </a:r>
          </a:p>
          <a:p>
            <a:pPr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all factors to decide the best hospital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6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F59C-7563-A29D-E1E6-9B396279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7667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93AE72"/>
                </a:solidFill>
              </a:rPr>
              <a:t>Methodology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IN" dirty="0">
              <a:solidFill>
                <a:srgbClr val="93AE7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0785-9646-0554-2FFE-20C2AD61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sv-SE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sv-SE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sv-SE" sz="8800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BDF5B-EE3B-9231-1F28-A8EBDB8C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F61765-FF33-DC0C-8F18-BF2010E09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24" y="1404501"/>
            <a:ext cx="7787208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Ambulances move in a simulated city using SUMO.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Nearby RSUs (traffic lights) detect ambulances within 50 meters.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detected, the RSU runs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pick the best hospital.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 scores hospitals based 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 (60%)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beds available (30%)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specialist match (10%)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ambulance is routed to the selected hospital, and ETA is recorded to measure improvement.</a:t>
            </a:r>
          </a:p>
        </p:txBody>
      </p:sp>
    </p:spTree>
    <p:extLst>
      <p:ext uri="{BB962C8B-B14F-4D97-AF65-F5344CB8AC3E}">
        <p14:creationId xmlns:p14="http://schemas.microsoft.com/office/powerpoint/2010/main" val="42485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6074-DC26-895B-90C1-13F452D5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93AE72"/>
                </a:solidFill>
              </a:rPr>
              <a:t>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6E96-8AED-A13D-99AA-1C73525E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08C3BCC-FB6C-59DB-26A5-FE933AB7A9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9003"/>
            <a:ext cx="8424936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Ambulances move through the city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SUMO simulation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just like real traffic.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RSUs (traffic lights)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 ambulances within 50 meters.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detected,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picks the best hospital for each ambulance.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 are scored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 (60%)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available beds (30%)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specialist match (10%)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ambulance’s route is updated to the selected hospital,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ETA is logged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track improvements.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whole process, including traffic, ambulance movement, and hospital assignment,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visualized in SUMO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results are saved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compare normal ETA  score and ETA score of GA and represent it in Graph from.</a:t>
            </a:r>
          </a:p>
        </p:txBody>
      </p:sp>
    </p:spTree>
    <p:extLst>
      <p:ext uri="{BB962C8B-B14F-4D97-AF65-F5344CB8AC3E}">
        <p14:creationId xmlns:p14="http://schemas.microsoft.com/office/powerpoint/2010/main" val="3040110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365" y="131697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53044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3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AEE06-B3BE-5869-C7A1-3FA54F2EBBB7}"/>
              </a:ext>
            </a:extLst>
          </p:cNvPr>
          <p:cNvSpPr txBox="1"/>
          <p:nvPr/>
        </p:nvSpPr>
        <p:spPr>
          <a:xfrm rot="10800000">
            <a:off x="1572681" y="4692911"/>
            <a:ext cx="6260287" cy="4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an ambulance response&#10;&#10;AI-generated content may be incorrect.">
            <a:extLst>
              <a:ext uri="{FF2B5EF4-FFF2-40B4-BE49-F238E27FC236}">
                <a16:creationId xmlns:a16="http://schemas.microsoft.com/office/drawing/2014/main" id="{C67DF4A0-06DC-DDED-C9AA-5995EBE09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65" y="986230"/>
            <a:ext cx="3815225" cy="2289135"/>
          </a:xfrm>
          <a:prstGeom prst="rect">
            <a:avLst/>
          </a:prstGeom>
        </p:spPr>
      </p:pic>
      <p:pic>
        <p:nvPicPr>
          <p:cNvPr id="7" name="Picture 6" descr="A graph of an ambulance response&#10;&#10;AI-generated content may be incorrect.">
            <a:extLst>
              <a:ext uri="{FF2B5EF4-FFF2-40B4-BE49-F238E27FC236}">
                <a16:creationId xmlns:a16="http://schemas.microsoft.com/office/drawing/2014/main" id="{B7AED4A7-D941-BEBF-0CC8-2185388968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108" y="683874"/>
            <a:ext cx="3995936" cy="3028543"/>
          </a:xfrm>
          <a:prstGeom prst="rect">
            <a:avLst/>
          </a:prstGeom>
        </p:spPr>
      </p:pic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F1CFA81-6C7E-2B28-86E7-932B8359F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331718"/>
            <a:ext cx="4319638" cy="3087420"/>
          </a:xfrm>
          <a:prstGeom prst="rect">
            <a:avLst/>
          </a:prstGeom>
        </p:spPr>
      </p:pic>
      <p:pic>
        <p:nvPicPr>
          <p:cNvPr id="14" name="Picture 13" descr="A blue and red pie chart&#10;&#10;AI-generated content may be incorrect.">
            <a:extLst>
              <a:ext uri="{FF2B5EF4-FFF2-40B4-BE49-F238E27FC236}">
                <a16:creationId xmlns:a16="http://schemas.microsoft.com/office/drawing/2014/main" id="{92296850-C5E6-A6F6-A6C2-E6F421887B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092237"/>
            <a:ext cx="4319638" cy="16927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974" y="884237"/>
            <a:ext cx="8229600" cy="5791200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R. Sumathi, A. Kumar, P. Sharma, and K. Verma, "Smart Ambulance Routing System,"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Creative Research Thoughts (IJCRT)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2024, ISSN: 2320-2882.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Akca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Kocyigit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Ö. K.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Sahingoz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Tozal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"Intelligent Ambulance Management System in Smart Cities,"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Electrical and Electronics Engineering (ICEE)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2020, ISSN: 978-1-7281-3781-7.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IRJET Authors, "Smart Ambulance Route Optimization System,"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Engineering and Technology (IRJET)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2025, ISSN: 2395-0056.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M. Gendreau, G. Laporte, and F.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(EJOR)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219, no. 3, 2012, ISSN: 0377-2217. Solving the Dynamic Ambulance Relocation and Dispatching Problem Using ADP,"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Journal of Operational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/>
              <a:t>[5] S. Rajkumar, P. Karthik, R. Bhuvaneswari, and V. Ramesh, "AI Assisted Smart Ambulance for Patient Monitoring and Route Optimization," </a:t>
            </a:r>
            <a:r>
              <a:rPr lang="en-US" sz="1400" i="1" dirty="0"/>
              <a:t>International Journal for Research in Applied Science and Engineering Technology (IJRASET)</a:t>
            </a:r>
            <a:r>
              <a:rPr lang="en-US" sz="1400" dirty="0"/>
              <a:t>, vol. 11, 2023, ISSN: 2321-9653.</a:t>
            </a:r>
          </a:p>
          <a:p>
            <a:r>
              <a:rPr lang="en-US" sz="1400" dirty="0"/>
              <a:t>[6] Shalini S., C. Nandini, G. Shree R., M. </a:t>
            </a:r>
            <a:r>
              <a:rPr lang="en-US" sz="1400" dirty="0" err="1"/>
              <a:t>Yasaswini</a:t>
            </a:r>
            <a:r>
              <a:rPr lang="en-US" sz="1400" dirty="0"/>
              <a:t>, and N. Jain, "</a:t>
            </a:r>
            <a:r>
              <a:rPr lang="en-US" sz="1400" dirty="0" err="1"/>
              <a:t>Greenvoy</a:t>
            </a:r>
            <a:r>
              <a:rPr lang="en-US" sz="1400" dirty="0"/>
              <a:t>: A Survey On Smart Ambulance Routing Through Green AI and Edge Intelligence," </a:t>
            </a:r>
            <a:r>
              <a:rPr lang="en-US" sz="1400" i="1" dirty="0"/>
              <a:t>International Journal of Science, Engineering and Technology (IJSET)</a:t>
            </a:r>
            <a:r>
              <a:rPr lang="en-US" sz="1400" dirty="0"/>
              <a:t>, vol. 13, 2025, ISSN: 2348-4098.</a:t>
            </a:r>
          </a:p>
          <a:p>
            <a:r>
              <a:rPr lang="en-US" sz="1400" dirty="0"/>
              <a:t>[7] M. Fakhouri Amr, M. </a:t>
            </a:r>
            <a:r>
              <a:rPr lang="en-US" sz="1400" dirty="0" err="1"/>
              <a:t>Elgarej</a:t>
            </a:r>
            <a:r>
              <a:rPr lang="en-US" sz="1400" dirty="0"/>
              <a:t>, N. Benmoussa, K. Mansouri, and M. </a:t>
            </a:r>
            <a:r>
              <a:rPr lang="en-US" sz="1400" dirty="0" err="1"/>
              <a:t>Qbadou</a:t>
            </a:r>
            <a:r>
              <a:rPr lang="en-US" sz="1400" dirty="0"/>
              <a:t>, "Towards a Distributed SMA-based Solution for the Interoperability of Hospital Information Systems for Better Routing of Emergency Ambulances," </a:t>
            </a:r>
            <a:r>
              <a:rPr lang="en-US" sz="1400" i="1" dirty="0"/>
              <a:t>International Journal of Online Engineering (</a:t>
            </a:r>
            <a:r>
              <a:rPr lang="en-US" sz="1400" i="1" dirty="0" err="1"/>
              <a:t>iJOE</a:t>
            </a:r>
            <a:r>
              <a:rPr lang="en-US" sz="1400" i="1" dirty="0"/>
              <a:t>)</a:t>
            </a:r>
            <a:r>
              <a:rPr lang="en-US" sz="1400" dirty="0"/>
              <a:t>, vol. 17, no. 4, 2021, ISSN: 1861-2121.</a:t>
            </a:r>
          </a:p>
          <a:p>
            <a:r>
              <a:rPr lang="en-US" sz="1400" dirty="0"/>
              <a:t>[8] Md. Rakibul Hassan, "Enhancing Task Offloading in Vehicular Networks: A Multi-Agent Cloud-Edge-Device Framework," </a:t>
            </a:r>
            <a:r>
              <a:rPr lang="en-US" sz="1400" i="1" dirty="0"/>
              <a:t>Vehicular Communications</a:t>
            </a:r>
            <a:r>
              <a:rPr lang="en-US" sz="1400" dirty="0"/>
              <a:t>, vol. 36, 2025, ISSN: 2214-2096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="1" dirty="0">
                <a:latin typeface="Book Antiqua" pitchFamily="18" charset="0"/>
              </a:rPr>
              <a:t>References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Dept. of ISE, SIT, Tumkur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" descr="C:\Users\Administrator\Desktop\Comp\Ubi-Cam\Ubi-Cam\ic_launcher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6475491"/>
            <a:ext cx="375082" cy="382509"/>
          </a:xfrm>
          <a:prstGeom prst="rect">
            <a:avLst/>
          </a:prstGeom>
          <a:noFill/>
        </p:spPr>
      </p:pic>
      <p:sp>
        <p:nvSpPr>
          <p:cNvPr id="13" name="Slide Number Placeholder 8"/>
          <p:cNvSpPr txBox="1">
            <a:spLocks/>
          </p:cNvSpPr>
          <p:nvPr/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A8894-9BB9-4840-9552-2631AF7E8A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764B-0383-1095-CA0D-B80A2F79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EB9B6-4227-8B47-51C7-B1754A82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v-SE" sz="8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Thank you, everyone!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52836-314A-00E5-A086-145A3BCA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A8894-9BB9-4840-9552-2631AF7E8A1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8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29467</TotalTime>
  <Words>1431</Words>
  <Application>Microsoft Office PowerPoint</Application>
  <PresentationFormat>On-screen Show (4:3)</PresentationFormat>
  <Paragraphs>141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Book Antiqua</vt:lpstr>
      <vt:lpstr>Bookman Old Style</vt:lpstr>
      <vt:lpstr>Calibri</vt:lpstr>
      <vt:lpstr>Symbol</vt:lpstr>
      <vt:lpstr>Times New Roman</vt:lpstr>
      <vt:lpstr>Wingdings</vt:lpstr>
      <vt:lpstr>Office Theme</vt:lpstr>
      <vt:lpstr>   Mini Project Second Review Presentation  on Ambulance Task Offloading In Vehicular Edge Computing Networks Using Genetic Algorithm.  </vt:lpstr>
      <vt:lpstr>OUTLINE</vt:lpstr>
      <vt:lpstr>PROBLEM STATEMENT</vt:lpstr>
      <vt:lpstr>INTRODUCTION</vt:lpstr>
      <vt:lpstr>OBJECTIVES</vt:lpstr>
      <vt:lpstr>LITERATURE SURVEY</vt:lpstr>
      <vt:lpstr>OUTCOME OF THE LITERATURE SURVEY</vt:lpstr>
      <vt:lpstr>ARCHITECTURE OF PROPOSED MODEL/ BLOCK DIAGRAM</vt:lpstr>
      <vt:lpstr>Algorithms Used</vt:lpstr>
      <vt:lpstr> </vt:lpstr>
      <vt:lpstr>Methodology </vt:lpstr>
      <vt:lpstr>Implementation</vt:lpstr>
      <vt:lpstr>OUTCOMES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ISEStaff</dc:creator>
  <cp:lastModifiedBy>Vidya Nidhi</cp:lastModifiedBy>
  <cp:revision>1564</cp:revision>
  <dcterms:created xsi:type="dcterms:W3CDTF">2014-04-21T11:37:19Z</dcterms:created>
  <dcterms:modified xsi:type="dcterms:W3CDTF">2025-10-24T17:37:43Z</dcterms:modified>
</cp:coreProperties>
</file>